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30"/>
      <p:bold r:id="rId31"/>
      <p:italic r:id="rId32"/>
      <p:boldItalic r:id="rId33"/>
    </p:embeddedFont>
    <p:embeddedFont>
      <p:font typeface="Times" panose="02020603050405020304" pitchFamily="18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9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i8d/qzBFDVBwlmBYH+G+TcM3Bb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520" y="44"/>
      </p:cViewPr>
      <p:guideLst>
        <p:guide orient="horz" pos="2160"/>
        <p:guide pos="28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25759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0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" name="Google Shape;19;p30"/>
          <p:cNvSpPr txBox="1"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500" b="1">
                <a:solidFill>
                  <a:srgbClr val="6393D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102642"/>
                </a:solidFill>
              </a:defRPr>
            </a:lvl1pPr>
            <a:lvl2pPr lvl="1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225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0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 txBox="1"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 cap="none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850" tIns="0" rIns="91425" bIns="45700" anchor="t" anchorCtr="0">
            <a:noAutofit/>
          </a:bodyPr>
          <a:lstStyle>
            <a:lvl1pPr marL="457200" marR="36830" lvl="0" indent="-228600" algn="l">
              <a:spcBef>
                <a:spcPts val="0"/>
              </a:spcBef>
              <a:spcAft>
                <a:spcPts val="0"/>
              </a:spcAft>
              <a:buSzPts val="1440"/>
              <a:buNone/>
              <a:defRPr sz="1800" b="0">
                <a:solidFill>
                  <a:srgbClr val="345D8D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568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27" name="Google Shape;27;p31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1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2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2"/>
          <p:cNvSpPr txBox="1">
            <a:spLocks noGrp="1"/>
          </p:cNvSpPr>
          <p:nvPr>
            <p:ph type="body" idx="1"/>
          </p:nvPr>
        </p:nvSpPr>
        <p:spPr>
          <a:xfrm>
            <a:off x="514352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32"/>
          <p:cNvSpPr txBox="1">
            <a:spLocks noGrp="1"/>
          </p:cNvSpPr>
          <p:nvPr>
            <p:ph type="body" idx="2"/>
          </p:nvPr>
        </p:nvSpPr>
        <p:spPr>
          <a:xfrm>
            <a:off x="4755360" y="530352"/>
            <a:ext cx="3931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60680" algn="l"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marL="914400" lvl="1" indent="-368300" algn="l"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marL="1371600" lvl="2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 sz="1800"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4" name="Google Shape;34;p32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3"/>
          <p:cNvSpPr txBox="1"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630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0" name="Google Shape;40;p33"/>
          <p:cNvSpPr txBox="1">
            <a:spLocks noGrp="1"/>
          </p:cNvSpPr>
          <p:nvPr>
            <p:ph type="body" idx="2"/>
          </p:nvPr>
        </p:nvSpPr>
        <p:spPr>
          <a:xfrm>
            <a:off x="4652169" y="579438"/>
            <a:ext cx="393192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45700" anchor="ctr" anchorCtr="0">
            <a:no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92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792"/>
              <a:buNone/>
              <a:defRPr sz="1600" b="1"/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1" name="Google Shape;41;p33"/>
          <p:cNvSpPr txBox="1">
            <a:spLocks noGrp="1"/>
          </p:cNvSpPr>
          <p:nvPr>
            <p:ph type="body" idx="3"/>
          </p:nvPr>
        </p:nvSpPr>
        <p:spPr>
          <a:xfrm>
            <a:off x="607224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4"/>
          </p:nvPr>
        </p:nvSpPr>
        <p:spPr>
          <a:xfrm>
            <a:off x="4652169" y="1447800"/>
            <a:ext cx="3931920" cy="348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50520" algn="l"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marL="914400" lvl="1" indent="-355600" algn="l"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42392" algn="l">
              <a:spcBef>
                <a:spcPts val="225"/>
              </a:spcBef>
              <a:spcAft>
                <a:spcPts val="0"/>
              </a:spcAft>
              <a:buSzPts val="1792"/>
              <a:buChar char="◦"/>
              <a:defRPr sz="1600"/>
            </a:lvl4pPr>
            <a:lvl5pPr marL="2286000" lvl="4" indent="-330200" algn="l"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4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4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4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4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5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" name="Google Shape;53;p35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5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5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6"/>
          <p:cNvSpPr txBox="1"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sz="2200" b="1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6"/>
          <p:cNvSpPr txBox="1">
            <a:spLocks noGrp="1"/>
          </p:cNvSpPr>
          <p:nvPr>
            <p:ph type="body" idx="1"/>
          </p:nvPr>
        </p:nvSpPr>
        <p:spPr>
          <a:xfrm>
            <a:off x="5538847" y="1447802"/>
            <a:ext cx="2971800" cy="420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marR="18415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25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59" name="Google Shape;59;p36"/>
          <p:cNvSpPr txBox="1">
            <a:spLocks noGrp="1"/>
          </p:cNvSpPr>
          <p:nvPr>
            <p:ph type="body" idx="2"/>
          </p:nvPr>
        </p:nvSpPr>
        <p:spPr>
          <a:xfrm>
            <a:off x="761372" y="930144"/>
            <a:ext cx="4626159" cy="4724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70840" algn="l"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lt1"/>
                </a:solidFill>
              </a:defRPr>
            </a:lvl1pPr>
            <a:lvl2pPr marL="914400" lvl="1" indent="-393700" algn="l"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lt1"/>
                </a:solidFill>
              </a:defRPr>
            </a:lvl2pPr>
            <a:lvl3pPr marL="1371600" lvl="2" indent="-381000" algn="l"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lt1"/>
                </a:solidFill>
              </a:defRPr>
            </a:lvl3pPr>
            <a:lvl4pPr marL="1828800" lvl="3" indent="-370839" algn="l">
              <a:spcBef>
                <a:spcPts val="225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lt1"/>
                </a:solidFill>
              </a:defRPr>
            </a:lvl4pPr>
            <a:lvl5pPr marL="2286000" lvl="4" indent="-355600" algn="l"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6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w="9525" cap="rnd" cmpd="sng">
            <a:solidFill>
              <a:srgbClr val="A2A0A0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50800" dir="54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37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02642"/>
              </a:buClr>
              <a:buSzPts val="3600"/>
              <a:buFont typeface="Verdana"/>
              <a:buNone/>
              <a:defRPr sz="3600" b="0">
                <a:solidFill>
                  <a:srgbClr val="10264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body" idx="1"/>
          </p:nvPr>
        </p:nvSpPr>
        <p:spPr>
          <a:xfrm>
            <a:off x="6462712" y="533400"/>
            <a:ext cx="2240280" cy="42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marL="914400" lvl="1" indent="-304800" algn="l"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marL="1371600" lvl="2" indent="-292100" algn="l"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marL="1828800" lvl="3" indent="-292608" algn="l">
              <a:spcBef>
                <a:spcPts val="225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marL="2286000" lvl="4" indent="-285750" algn="l"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68" name="Google Shape;68;p37"/>
          <p:cNvSpPr>
            <a:spLocks noGrp="1"/>
          </p:cNvSpPr>
          <p:nvPr>
            <p:ph type="pic" idx="2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rgbClr val="0A192B"/>
          </a:solidFill>
          <a:ln>
            <a:noFill/>
          </a:ln>
        </p:spPr>
      </p:sp>
      <p:sp>
        <p:nvSpPr>
          <p:cNvPr id="69" name="Google Shape;69;p37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1"/>
          </p:nvPr>
        </p:nvSpPr>
        <p:spPr>
          <a:xfrm rot="5400000">
            <a:off x="2500884" y="-1467612"/>
            <a:ext cx="4187952" cy="8183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>
            <a:spLocks noGrp="1"/>
          </p:cNvSpPr>
          <p:nvPr>
            <p:ph type="title"/>
          </p:nvPr>
        </p:nvSpPr>
        <p:spPr>
          <a:xfrm rot="5400000">
            <a:off x="4991101" y="2171704"/>
            <a:ext cx="5257799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 rot="5400000">
            <a:off x="876300" y="190503"/>
            <a:ext cx="5257801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lvl="0" indent="-320040" algn="l"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marL="914400" lvl="1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56616" algn="l">
              <a:spcBef>
                <a:spcPts val="225"/>
              </a:spcBef>
              <a:spcAft>
                <a:spcPts val="0"/>
              </a:spcAft>
              <a:buSzPts val="2016"/>
              <a:buChar char="◦"/>
              <a:defRPr/>
            </a:lvl4pPr>
            <a:lvl5pPr marL="2286000" lvl="4" indent="-342900" algn="l"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9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503238" y="4986338"/>
            <a:ext cx="8183563" cy="105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rgbClr val="6594D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>
            <a:lvl1pPr marL="457200" marR="0" lvl="0" indent="-37084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sz="28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81000" algn="l" rtl="0"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sz="24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68300" algn="l" rtl="0">
              <a:spcBef>
                <a:spcPts val="250"/>
              </a:spcBef>
              <a:spcAft>
                <a:spcPts val="0"/>
              </a:spcAft>
              <a:buClr>
                <a:srgbClr val="FF3D39"/>
              </a:buClr>
              <a:buSzPts val="2200"/>
              <a:buFont typeface="Noto Sans Symbols"/>
              <a:buChar char="●"/>
              <a:defRPr sz="22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63728" algn="l" rtl="0">
              <a:spcBef>
                <a:spcPts val="225"/>
              </a:spcBef>
              <a:spcAft>
                <a:spcPts val="0"/>
              </a:spcAft>
              <a:buClr>
                <a:srgbClr val="FF3D39"/>
              </a:buClr>
              <a:buSzPts val="2128"/>
              <a:buFont typeface="Verdana"/>
              <a:buChar char="◦"/>
              <a:defRPr sz="19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250"/>
              </a:spcBef>
              <a:spcAft>
                <a:spcPts val="0"/>
              </a:spcAft>
              <a:buClr>
                <a:srgbClr val="BEFF4B"/>
              </a:buClr>
              <a:buSzPts val="2000"/>
              <a:buFont typeface="Noto Sans Symbols"/>
              <a:buChar char="●"/>
              <a:defRPr sz="20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6550" algn="l" rtl="0">
              <a:spcBef>
                <a:spcPts val="250"/>
              </a:spcBef>
              <a:spcAft>
                <a:spcPts val="0"/>
              </a:spcAft>
              <a:buClr>
                <a:srgbClr val="BFFF49"/>
              </a:buClr>
              <a:buSzPts val="1700"/>
              <a:buFont typeface="Verdana"/>
              <a:buChar char="◦"/>
              <a:defRPr sz="17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Verdana"/>
              <a:buChar char="◦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23850" algn="l" rtl="0">
              <a:spcBef>
                <a:spcPts val="255"/>
              </a:spcBef>
              <a:spcAft>
                <a:spcPts val="0"/>
              </a:spcAft>
              <a:buClr>
                <a:srgbClr val="BFFF49"/>
              </a:buClr>
              <a:buSzPts val="1500"/>
              <a:buFont typeface="Noto Sans Symbols"/>
              <a:buChar char="●"/>
              <a:defRPr sz="1500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dt" idx="10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8"/>
          <p:cNvSpPr txBox="1">
            <a:spLocks noGrp="1"/>
          </p:cNvSpPr>
          <p:nvPr>
            <p:ph type="ftr" idx="11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355B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6355B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8"/>
          <p:cNvSpPr txBox="1">
            <a:spLocks noGrp="1"/>
          </p:cNvSpPr>
          <p:nvPr>
            <p:ph type="sldNum" idx="12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335A"/>
              </a:buClr>
              <a:buSzPts val="1000"/>
              <a:buFont typeface="Verdana"/>
              <a:buNone/>
              <a:defRPr sz="1000" b="0" i="0" u="none" strike="noStrike" cap="none">
                <a:solidFill>
                  <a:srgbClr val="14335A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5650" y="1341120"/>
            <a:ext cx="7068185" cy="473519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/>
        </p:nvSpPr>
        <p:spPr>
          <a:xfrm>
            <a:off x="845820" y="870585"/>
            <a:ext cx="6318250" cy="54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 2</a:t>
            </a: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285750" y="692150"/>
            <a:ext cx="8078788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285750" y="1557338"/>
            <a:ext cx="8543925" cy="3960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Classification of numbers.</a:t>
            </a: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Divisibility rules.</a:t>
            </a: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Factorials.</a:t>
            </a:r>
            <a:endParaRPr sz="3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⚫"/>
            </a:pPr>
            <a:r>
              <a:rPr lang="en-US" sz="3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</a:t>
            </a: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calculation.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b="0" i="0" u="none" strike="noStrike" cap="none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 descr="Image result for content images"/>
          <p:cNvSpPr/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" descr="https://encrypted-tbn1.gstatic.com/images?q=tbn:ANd9GcQ5ckqowr0ihkP1K54LNvPc-S6lgbGB-unvcrTB6I0Gp4EYMF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88426">
            <a:off x="4891088" y="4046538"/>
            <a:ext cx="3255962" cy="235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179388" y="692150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numbers</a:t>
            </a:r>
            <a:endParaRPr sz="36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675" y="1697038"/>
            <a:ext cx="82486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68275" y="785813"/>
            <a:ext cx="8364538" cy="62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14313" y="928688"/>
            <a:ext cx="8643937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Conversion of a decimal number to fraction: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1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4" descr="C:\Users\Muntazir\Desktop\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188" y="1643063"/>
            <a:ext cx="6786562" cy="20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 descr="C:\Users\Muntazir\Desktop\2.jpg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500063" y="3643313"/>
            <a:ext cx="7358062" cy="271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357188" y="928688"/>
            <a:ext cx="8501062" cy="336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ook Antiqua"/>
              <a:buNone/>
            </a:pPr>
            <a:r>
              <a:rPr lang="en-US" sz="24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Question. 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the rational form of the recurring rational 0.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333333333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11/99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1/3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13/30</a:t>
            </a: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>
            <a:spLocks noGrp="1"/>
          </p:cNvSpPr>
          <p:nvPr>
            <p:ph type="title"/>
          </p:nvPr>
        </p:nvSpPr>
        <p:spPr>
          <a:xfrm>
            <a:off x="0" y="785813"/>
            <a:ext cx="8364538" cy="92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594DA"/>
              </a:buClr>
              <a:buSzPct val="100000"/>
              <a:buFont typeface="Times New Roman"/>
              <a:buNone/>
            </a:pP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600" b="1" i="0" u="none" strike="noStrike" cap="none">
                <a:solidFill>
                  <a:srgbClr val="6594DA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22263" y="1052513"/>
            <a:ext cx="8499475" cy="126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endParaRPr sz="2000" b="1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Question.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 37.565656565656…………….</a:t>
            </a: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P/Q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 txBox="1"/>
          <p:nvPr/>
        </p:nvSpPr>
        <p:spPr>
          <a:xfrm>
            <a:off x="395605" y="2420620"/>
            <a:ext cx="8279765" cy="320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800"/>
              <a:buFont typeface="Times"/>
              <a:buNone/>
            </a:pP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A)3719/99</a:t>
            </a:r>
            <a:br>
              <a:rPr lang="en-US" sz="1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B)3663/90</a:t>
            </a:r>
            <a:b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C)3443/990</a:t>
            </a:r>
            <a:b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2800" b="0" i="0" u="none">
                <a:solidFill>
                  <a:srgbClr val="0C0C0C"/>
                </a:solidFill>
                <a:latin typeface="Times"/>
                <a:ea typeface="Times"/>
                <a:cs typeface="Times"/>
                <a:sym typeface="Times"/>
              </a:rPr>
              <a:t>D)None of these</a:t>
            </a:r>
            <a:endParaRPr sz="2800" b="0" i="0" u="none">
              <a:solidFill>
                <a:srgbClr val="0C0C0C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>
            <a:spLocks noGrp="1"/>
          </p:cNvSpPr>
          <p:nvPr>
            <p:ph type="title"/>
          </p:nvPr>
        </p:nvSpPr>
        <p:spPr>
          <a:xfrm>
            <a:off x="214313" y="642938"/>
            <a:ext cx="8185150" cy="679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Verdana"/>
              <a:buNone/>
            </a:pPr>
            <a:r>
              <a:rPr lang="en-US" sz="36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Divisibility Rules</a:t>
            </a:r>
            <a:endParaRPr sz="3600" b="1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3" y="1566863"/>
            <a:ext cx="8064500" cy="474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50" y="1125538"/>
            <a:ext cx="8640763" cy="482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number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9292N is divisible by 2. How many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N can take?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"/>
          <p:cNvSpPr txBox="1"/>
          <p:nvPr/>
        </p:nvSpPr>
        <p:spPr>
          <a:xfrm>
            <a:off x="142875" y="928688"/>
            <a:ext cx="87867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should come in place of K if 5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K5 is divisible by 9?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7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9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P number 36345472P34 is exactly divisible by 9.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2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N number 549724N is exactly divisible by 6.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 &amp; 8 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 &amp;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 &amp; 6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6 &amp; 8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/>
        </p:nvSpPr>
        <p:spPr>
          <a:xfrm>
            <a:off x="142875" y="928688"/>
            <a:ext cx="87867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 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what values of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number 99857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 is exactly divisible by 11.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1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0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/>
        </p:nvSpPr>
        <p:spPr>
          <a:xfrm>
            <a:off x="142875" y="928688"/>
            <a:ext cx="87867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What should come in place 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4857</a:t>
            </a: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divisible by 88? 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6 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8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2</a:t>
            </a:r>
            <a:endParaRPr sz="2800" b="0" i="0" u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4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[E] None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these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/>
        </p:nvSpPr>
        <p:spPr>
          <a:xfrm>
            <a:off x="142875" y="928688"/>
            <a:ext cx="8786813" cy="514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Book Antiqua"/>
              <a:buNone/>
            </a:pPr>
            <a:r>
              <a:rPr lang="en-US" sz="40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Factorials</a:t>
            </a:r>
            <a:b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Trailing zeros (Number of zeros at the end)</a:t>
            </a:r>
            <a:endParaRPr sz="32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1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lang="en-US" sz="3200" b="1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Concept: </a:t>
            </a:r>
            <a:r>
              <a:rPr lang="en-US" sz="32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In multiplication zero can be produced when we have a pair of 2 and 5. So, in order to find no. of zeros at the end, the pair of 2 and 5 need to be counted.</a:t>
            </a: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ook Antiqua"/>
              <a:buNone/>
            </a:pPr>
            <a:r>
              <a:rPr lang="en-US" sz="3200" b="0" i="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Example: 2^3 x 5 x 9 x 8 x 24 x 15 Find number of zeros at the end. </a:t>
            </a:r>
            <a:endParaRPr sz="3200" b="0" i="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249238" y="836613"/>
            <a:ext cx="86439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27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214313" y="100012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zeros in 154!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35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31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34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37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214313" y="1000125"/>
            <a:ext cx="8679000" cy="3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100!+200!+300!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/>
        </p:nvSpPr>
        <p:spPr>
          <a:xfrm>
            <a:off x="214313" y="765175"/>
            <a:ext cx="8643937" cy="375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Question:</a:t>
            </a: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 number of trailing zero in 100! X 200!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[A] 24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[B] 49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[C] 73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[D] None of these</a:t>
            </a: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endParaRPr sz="2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395605" y="621030"/>
            <a:ext cx="818388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C0C0C"/>
                </a:solidFill>
              </a:rPr>
              <a:t>Unit Digits:</a:t>
            </a:r>
            <a:endParaRPr>
              <a:solidFill>
                <a:srgbClr val="0C0C0C"/>
              </a:solidFill>
            </a:endParaRPr>
          </a:p>
        </p:txBody>
      </p:sp>
      <p:sp>
        <p:nvSpPr>
          <p:cNvPr id="197" name="Google Shape;197;p20"/>
          <p:cNvSpPr txBox="1">
            <a:spLocks noGrp="1"/>
          </p:cNvSpPr>
          <p:nvPr>
            <p:ph type="body" idx="1"/>
          </p:nvPr>
        </p:nvSpPr>
        <p:spPr>
          <a:xfrm>
            <a:off x="502920" y="1901825"/>
            <a:ext cx="8183880" cy="3995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Right most digit of a number is called Unit digit.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e.g. 278 × 623 what will be the unit digit?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0" lvl="0" indent="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8 x 3 = 24</a:t>
            </a:r>
            <a:b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</a:br>
            <a:r>
              <a:rPr lang="en-US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The last digit is 4</a:t>
            </a:r>
            <a:endParaRPr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65430" lvl="0" indent="-123190" algn="l" rtl="0">
              <a:spcBef>
                <a:spcPts val="250"/>
              </a:spcBef>
              <a:spcAft>
                <a:spcPts val="0"/>
              </a:spcAft>
              <a:buSzPts val="2240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91425" rIns="91425" bIns="45700" anchor="t" anchorCtr="0">
            <a:noAutofit/>
          </a:bodyPr>
          <a:lstStyle/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265430" lvl="0" indent="0" algn="l" rtl="0">
              <a:spcBef>
                <a:spcPts val="25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Digit of higher power numbers </a:t>
            </a:r>
            <a:endParaRPr sz="3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285750" y="929005"/>
            <a:ext cx="8501380" cy="497141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147" r="-107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 txBox="1"/>
          <p:nvPr/>
        </p:nvSpPr>
        <p:spPr>
          <a:xfrm>
            <a:off x="179705" y="90836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23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/>
          <p:nvPr/>
        </p:nvSpPr>
        <p:spPr>
          <a:xfrm>
            <a:off x="142875" y="928688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433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/>
          <p:nvPr/>
        </p:nvSpPr>
        <p:spPr>
          <a:xfrm>
            <a:off x="117475" y="548323"/>
            <a:ext cx="8786813" cy="28082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411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142875" y="764858"/>
            <a:ext cx="8786813" cy="28551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39" b="-2343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b="0" i="0" u="none"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4213" y="981075"/>
            <a:ext cx="7883525" cy="4846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spect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On-screen Show (4:3)</PresentationFormat>
  <Paragraphs>93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Times New Roman</vt:lpstr>
      <vt:lpstr>Times</vt:lpstr>
      <vt:lpstr>Calibri</vt:lpstr>
      <vt:lpstr>Arial</vt:lpstr>
      <vt:lpstr>Noto Sans Symbols</vt:lpstr>
      <vt:lpstr>Verdana</vt:lpstr>
      <vt:lpstr>Book Antiqua</vt:lpstr>
      <vt:lpstr>Aspect</vt:lpstr>
      <vt:lpstr>PowerPoint Presentation</vt:lpstr>
      <vt:lpstr>Content</vt:lpstr>
      <vt:lpstr>Types of numbers</vt:lpstr>
      <vt:lpstr>                                              </vt:lpstr>
      <vt:lpstr>PowerPoint Presentation</vt:lpstr>
      <vt:lpstr>                                              </vt:lpstr>
      <vt:lpstr>  Divisibility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Unit Digits: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Chandrabhushan kumar sinha</cp:lastModifiedBy>
  <cp:revision>3</cp:revision>
  <dcterms:created xsi:type="dcterms:W3CDTF">2025-01-03T09:47:25Z</dcterms:created>
  <dcterms:modified xsi:type="dcterms:W3CDTF">2026-01-28T05:33:43Z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CDD194A51F4E114A2F967767DA8FD92E_43</vt:lpwstr>
  </property>
  <property fmtid="{D5CDD505-2E9C-101B-9397-08002B2CF9AE}" pid="3" name="KSOProductBuildVer">
    <vt:lpwstr>1033-6.10.1.8197</vt:lpwstr>
  </property>
</Properties>
</file>